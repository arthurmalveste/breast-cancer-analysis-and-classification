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Apresentem o grupo e o tema: usar dados clínicos de mamografias para prever quem vai receber um diagnóstico de câncer de mama. Hoje mostramos os dados, o pré-processamento e a análise exploratória; a modelagem é a próxima etapa.</a:t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alvo é binário: houve ou não diagnóstico de câncer em até 1 ano após o exame. Não trabalhamos com imagens, só com as informações registradas sobre a paciente e o exame.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linha do arquivo é uma mamografia, não uma paciente. 3.133 mulheres aparecem mais de uma vez, o que importa na hora de separar treino e teste.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São 13 colunas no arquivo original. Duas foram descartadas no pré-processamento: o tipo de câncer, que entrega a resposta, e o IMC, com 58% de valores ausentes. O ID da paciente fica só para separar treino e teste.</a:t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Esse é o principal desafio do projeto. Cada quadrado é um exame: só 1 em cada 154 tem câncer. Na modelagem vamos usar pesos de classe ou balanceamento, e métricas que olham para os positivos.</a:t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Tudo feito com Pandas no notebook pre-processado. A avaliação do radiologista virou um número de 1 a 6 na ordem do risco observado. A normalização e a divisão treino/teste ficam para a modelagem, para não vazar informação do teste.</a:t>
            </a:r>
            <a:endParaRPr/>
          </a:p>
        </p:txBody>
      </p:sp>
      <p:sp>
        <p:nvSpPr>
          <p:cNvPr id="266" name="Google Shape;2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1671bde2d678313f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h1671bde2d678313f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h1671bde2d678313f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Todas as taxas ficam abaixo de 1%, então as diferenças são pequenas em valor absoluto. A biópsia anterior é o fator individual que mais muda a taxa.</a:t>
            </a:r>
            <a:endParaRPr/>
          </a:p>
        </p:txBody>
      </p:sp>
      <p:sp>
        <p:nvSpPr>
          <p:cNvPr id="303" name="Google Shape;3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média de idade é parecida entre os grupos: 70,4 anos nos positivos e 69,6 nos negativos. Na densidade, a categoria extrema tem só 1.295 exames e 7 casos positivos, então a taxa dela é pouco confiável.</a:t>
            </a:r>
            <a:endParaRPr/>
          </a:p>
        </p:txBody>
      </p:sp>
      <p:sp>
        <p:nvSpPr>
          <p:cNvPr id="317" name="Google Shape;3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1671bde2d678313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h1671bde2d678313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h1671bde2d678313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Esses três pontos guiam como vamos treinar e avaliar os modelos na próxima etapa.</a:t>
            </a:r>
            <a:endParaRPr/>
          </a:p>
        </p:txBody>
      </p:sp>
      <p:sp>
        <p:nvSpPr>
          <p:cNvPr id="335" name="Google Shape;3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Separar por paciente evita que o modelo veja a mesma mulher no treino e no teste. Comparar com e sem o radiologista mostra quanto os fatores de risco sozinhos conseguem prever.</a:t>
            </a:r>
            <a:endParaRPr/>
          </a:p>
        </p:txBody>
      </p:sp>
      <p:sp>
        <p:nvSpPr>
          <p:cNvPr id="357" name="Google Shape;35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BCSC pede que os dados sejam citados como fonte e que se reconheça o financiamento do NCI.</a:t>
            </a:r>
            <a:endParaRPr/>
          </a:p>
        </p:txBody>
      </p:sp>
      <p:sp>
        <p:nvSpPr>
          <p:cNvPr id="374" name="Google Shape;3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548640" y="160020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  <a:defRPr b="1" i="0" sz="3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UDO">
  <p:cSld name="CONTEUDO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  <a:defRPr b="1" i="0" sz="32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ibbon" id="24" name="Google Shape;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822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/>
          <p:nvPr>
            <p:ph type="title"/>
          </p:nvPr>
        </p:nvSpPr>
        <p:spPr>
          <a:xfrm>
            <a:off x="548640" y="160020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</a:rPr>
              <a:t>Previsão de câncer de mama a partir de dados de mamografia</a:t>
            </a:r>
            <a:endParaRPr sz="3600"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</a:pPr>
            <a:r>
              <a:rPr lang="en-US" sz="1800">
                <a:solidFill>
                  <a:schemeClr val="accent3"/>
                </a:solidFill>
              </a:rPr>
              <a:t>Análise exploratória e pré-processamento do dataset BCSC</a:t>
            </a:r>
            <a:endParaRPr sz="1800"/>
          </a:p>
        </p:txBody>
      </p:sp>
      <p:sp>
        <p:nvSpPr>
          <p:cNvPr id="27" name="Google Shape;27;p5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github.com/arthurMalveste/Breast-Cancer-Analysis-and-Classification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O objetivo do projeto</a:t>
            </a:r>
            <a:endParaRPr sz="3200"/>
          </a:p>
        </p:txBody>
      </p:sp>
      <p:sp>
        <p:nvSpPr>
          <p:cNvPr id="34" name="Google Shape;34;p6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fmla="val 222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rget" id="36" name="Google Shape;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260" y="17145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/>
          <p:nvPr/>
        </p:nvSpPr>
        <p:spPr>
          <a:xfrm>
            <a:off x="777240" y="2377440"/>
            <a:ext cx="32918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Prever se uma mulher vai receber um diagnóstico de câncer de mama em até 1 ano depois da mamografia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4754880" y="128016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ble" id="39" name="Google Shape;3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/>
          <p:nvPr/>
        </p:nvSpPr>
        <p:spPr>
          <a:xfrm>
            <a:off x="5486400" y="1261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Pandas para limpar e analisar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5486400" y="16002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Todo o pré-processamento e a análise exploratória são feitos em notebooks Python.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4754880" y="237744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xray" id="43" name="Google Shape;4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040" y="25146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 txBox="1"/>
          <p:nvPr/>
        </p:nvSpPr>
        <p:spPr>
          <a:xfrm>
            <a:off x="5486400" y="23591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Só dados clínicos, sem imagens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5486400" y="26974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Idade, histórico, densidade da mama e a avaliação do radiologista.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754880" y="347472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obot" id="47" name="Google Shape;4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3611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5486400" y="345643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Modelos de classificação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 txBox="1"/>
          <p:nvPr/>
        </p:nvSpPr>
        <p:spPr>
          <a:xfrm>
            <a:off x="5486400" y="37947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Próxima etapa: treinar modelos de machine learning com os dados tratados.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O dataset: BCSC</a:t>
            </a:r>
            <a:endParaRPr sz="3200"/>
          </a:p>
        </p:txBody>
      </p:sp>
      <p:sp>
        <p:nvSpPr>
          <p:cNvPr id="57" name="Google Shape;57;p7"/>
          <p:cNvSpPr/>
          <p:nvPr/>
        </p:nvSpPr>
        <p:spPr>
          <a:xfrm>
            <a:off x="457200" y="1234440"/>
            <a:ext cx="1828800" cy="1600200"/>
          </a:xfrm>
          <a:prstGeom prst="roundRect">
            <a:avLst>
              <a:gd fmla="val 457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/>
        </p:nvSpPr>
        <p:spPr>
          <a:xfrm>
            <a:off x="594360" y="141732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39.998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594360" y="21945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mamografias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2560320" y="1234440"/>
            <a:ext cx="1828800" cy="1600200"/>
          </a:xfrm>
          <a:prstGeom prst="roundRect">
            <a:avLst>
              <a:gd fmla="val 457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 txBox="1"/>
          <p:nvPr/>
        </p:nvSpPr>
        <p:spPr>
          <a:xfrm>
            <a:off x="2697480" y="141732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36.714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2697480" y="21945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mulheres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663440" y="1234440"/>
            <a:ext cx="1828800" cy="1600200"/>
          </a:xfrm>
          <a:prstGeom prst="roundRect">
            <a:avLst>
              <a:gd fmla="val 457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4800600" y="141732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60–89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4800600" y="21945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anos de 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6766560" y="1234440"/>
            <a:ext cx="1828800" cy="1600200"/>
          </a:xfrm>
          <a:prstGeom prst="roundRect">
            <a:avLst>
              <a:gd fmla="val 457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 txBox="1"/>
          <p:nvPr/>
        </p:nvSpPr>
        <p:spPr>
          <a:xfrm>
            <a:off x="6903720" y="141732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4 anos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6903720" y="21945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2005 a 2008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457200" y="3154680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Breast Cancer Surveillance Consortium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Consórcio de pesquisa dos EUA que reúne registros de mamografias e diagnósticos. Esta amostra pública foi feita para ensino.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5852160" y="3154680"/>
            <a:ext cx="2834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20.000 exames digitais e 19.998 em filme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Algumas mulheres fizeram mais de um exame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Cópia pública no OpenML (licença CC0)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O que cada exame registra</a:t>
            </a:r>
            <a:endParaRPr sz="3200"/>
          </a:p>
        </p:txBody>
      </p:sp>
      <p:sp>
        <p:nvSpPr>
          <p:cNvPr id="78" name="Google Shape;78;p8"/>
          <p:cNvSpPr/>
          <p:nvPr/>
        </p:nvSpPr>
        <p:spPr>
          <a:xfrm>
            <a:off x="457200" y="1234440"/>
            <a:ext cx="4023360" cy="1463040"/>
          </a:xfrm>
          <a:prstGeom prst="roundRect">
            <a:avLst>
              <a:gd fmla="val 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685800" y="1508760"/>
            <a:ext cx="594360" cy="5943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er" id="80" name="Google Shape;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90" y="165735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 txBox="1"/>
          <p:nvPr/>
        </p:nvSpPr>
        <p:spPr>
          <a:xfrm>
            <a:off x="1508760" y="146304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Paciente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1508760" y="1856232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Idade, histórico familiar de câncer de mama, uso de terapia hormonal e biópsia anterior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4663440" y="1234440"/>
            <a:ext cx="4023360" cy="1463040"/>
          </a:xfrm>
          <a:prstGeom prst="roundRect">
            <a:avLst>
              <a:gd fmla="val 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4892040" y="1508760"/>
            <a:ext cx="594360" cy="5943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xray" id="85" name="Google Shape;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0630" y="165735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 txBox="1"/>
          <p:nvPr/>
        </p:nvSpPr>
        <p:spPr>
          <a:xfrm>
            <a:off x="5715000" y="146304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5715000" y="1856232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Densidade da mama, filme ou digital, se já fez mamografia antes e se havia exame anterior para comparar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fmla="val 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685800" y="3200400"/>
            <a:ext cx="594360" cy="5943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d" id="90" name="Google Shape;9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90" y="334899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 txBox="1"/>
          <p:nvPr/>
        </p:nvSpPr>
        <p:spPr>
          <a:xfrm>
            <a:off x="1508760" y="315468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Radiologista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 txBox="1"/>
          <p:nvPr/>
        </p:nvSpPr>
        <p:spPr>
          <a:xfrm>
            <a:off x="1508760" y="3547872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Avaliação BI-RADS do exame, de “Negativo” a “Altamente sugestivo de câncer”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fmla="val 5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4892040" y="3200400"/>
            <a:ext cx="594360" cy="5943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lag" id="95" name="Google Shape;9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0630" y="334899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8"/>
          <p:cNvSpPr txBox="1"/>
          <p:nvPr/>
        </p:nvSpPr>
        <p:spPr>
          <a:xfrm>
            <a:off x="5715000" y="315468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5715000" y="3547872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Diagnóstico de câncer de mama em até 1 ano após o exame: sim ou não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Só 0,65% dos exames têm câncer</a:t>
            </a:r>
            <a:endParaRPr sz="3200"/>
          </a:p>
        </p:txBody>
      </p:sp>
      <p:sp>
        <p:nvSpPr>
          <p:cNvPr id="105" name="Google Shape;105;p9"/>
          <p:cNvSpPr txBox="1"/>
          <p:nvPr/>
        </p:nvSpPr>
        <p:spPr>
          <a:xfrm>
            <a:off x="457200" y="123444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Cambria"/>
              <a:buNone/>
            </a:pPr>
            <a:r>
              <a:rPr b="1" i="0" lang="en-US" sz="66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259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 txBox="1"/>
          <p:nvPr/>
        </p:nvSpPr>
        <p:spPr>
          <a:xfrm>
            <a:off x="457200" y="21945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exames com câncer, entre 39.998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983480" y="1325880"/>
            <a:ext cx="18288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5221224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5458968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5696712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5934456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6172200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6409944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6647688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6885432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7123176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7360920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7598664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7836408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8074152" y="132588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4983480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5221224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5458968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5696712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5934456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6172200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6409944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6647688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6885432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7123176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7360920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7598664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7836408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8074152" y="156362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4983480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5221224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5458968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5696712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5934456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6172200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6409944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6647688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6885432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7123176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7360920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7598664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7836408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8074152" y="180136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4983480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5221224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5458968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5696712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5934456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6172200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6409944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6647688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885432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7123176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7360920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7598664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7836408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8074152" y="203911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4983480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221224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5458968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5696712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934456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6172200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6409944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6647688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6885432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7123176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7360920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7598664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7836408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8074152" y="227685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4983480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5221224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5458968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5696712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934456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172200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6409944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6647688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6885432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7123176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7360920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7598664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7836408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8074152" y="251460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4983480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221224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5458968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696712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5934456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6172200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6409944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6647688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885432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7123176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7360920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7598664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7836408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8074152" y="2752344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983480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5221224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5458968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5696712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5934456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6172200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6409944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6647688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885432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7123176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7360920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7598664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7836408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8074152" y="2990088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4983480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5221224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5458968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5696712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5934456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172200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6409944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6647688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6885432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7123176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7360920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7598664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7836408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8074152" y="3227832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983480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221224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5458968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696712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5934456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6172200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6409944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647688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6885432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7123176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7360920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7598664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7836408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8074152" y="3465576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4983480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5221224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5458968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5696712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5934456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6172200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6409944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6647688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6885432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7123176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7360920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7598664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7836408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8074152" y="3703320"/>
            <a:ext cx="182880" cy="182880"/>
          </a:xfrm>
          <a:prstGeom prst="rect">
            <a:avLst/>
          </a:prstGeom>
          <a:solidFill>
            <a:srgbClr val="E9DD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 txBox="1"/>
          <p:nvPr/>
        </p:nvSpPr>
        <p:spPr>
          <a:xfrm>
            <a:off x="4983480" y="4014216"/>
            <a:ext cx="33284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 quadrado rosa a cada 154 exames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Pré-processamento em 4 passos</a:t>
            </a:r>
            <a:endParaRPr sz="3200"/>
          </a:p>
        </p:txBody>
      </p:sp>
      <p:sp>
        <p:nvSpPr>
          <p:cNvPr id="269" name="Google Shape;269;p10"/>
          <p:cNvSpPr/>
          <p:nvPr/>
        </p:nvSpPr>
        <p:spPr>
          <a:xfrm>
            <a:off x="457200" y="1234440"/>
            <a:ext cx="1828800" cy="24231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1051560" y="141732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ut" id="271" name="Google Shape;2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1580" y="15773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 txBox="1"/>
          <p:nvPr/>
        </p:nvSpPr>
        <p:spPr>
          <a:xfrm>
            <a:off x="594360" y="21945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1. Remover colunas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594360" y="260604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câncer: entrega a resposta. IMC: 58% ausente.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2560320" y="1234440"/>
            <a:ext cx="1828800" cy="24231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3154680" y="141732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one" id="276" name="Google Shape;27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4700" y="15773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0"/>
          <p:cNvSpPr txBox="1"/>
          <p:nvPr/>
        </p:nvSpPr>
        <p:spPr>
          <a:xfrm>
            <a:off x="2697480" y="21945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2. Duplicados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2697480" y="260604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Nenhuma linha repetida encontrada.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663440" y="1234440"/>
            <a:ext cx="1828800" cy="24231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5257800" y="141732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ll" id="281" name="Google Shape;28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7820" y="15773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 txBox="1"/>
          <p:nvPr/>
        </p:nvSpPr>
        <p:spPr>
          <a:xfrm>
            <a:off x="4800600" y="21945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3. Valores ausentes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4800600" y="260604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colunas Sim/Não preenchidas com a resposta mais comum.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766560" y="1234440"/>
            <a:ext cx="1828800" cy="24231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7360920" y="141732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de" id="286" name="Google Shape;28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0940" y="15773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0"/>
          <p:cNvSpPr txBox="1"/>
          <p:nvPr/>
        </p:nvSpPr>
        <p:spPr>
          <a:xfrm>
            <a:off x="6903720" y="21945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4. Codificação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6903720" y="260604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BI-RADS de 1 a 6, densidade de 1 a 4, Sim/Não vira 0/1.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fmla="val 10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640080" y="400507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" id="291" name="Google Shape;29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380" y="41193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0"/>
          <p:cNvSpPr txBox="1"/>
          <p:nvPr/>
        </p:nvSpPr>
        <p:spPr>
          <a:xfrm>
            <a:off x="1280160" y="3886200"/>
            <a:ext cx="7223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39.998 linhas × 11 colunas, todas numéricas e sem valores ausentes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263" y="465038"/>
            <a:ext cx="6741474" cy="421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Fatores de risco da paciente</a:t>
            </a:r>
            <a:endParaRPr sz="3200"/>
          </a:p>
        </p:txBody>
      </p:sp>
      <p:pic>
        <p:nvPicPr>
          <p:cNvPr id="306" name="Google Shape;3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88720"/>
            <a:ext cx="539496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2"/>
          <p:cNvSpPr/>
          <p:nvPr/>
        </p:nvSpPr>
        <p:spPr>
          <a:xfrm>
            <a:off x="6035040" y="132588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rt" id="308" name="Google Shape;30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463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2"/>
          <p:cNvSpPr txBox="1"/>
          <p:nvPr/>
        </p:nvSpPr>
        <p:spPr>
          <a:xfrm>
            <a:off x="6720840" y="132588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Biópsia anterior se destaca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6035040" y="201168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0,93% de câncer em quem já fez biópsia, contra 0,55% em quem nunca fez.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035040" y="3017520"/>
            <a:ext cx="2651760" cy="1508760"/>
          </a:xfrm>
          <a:prstGeom prst="roundRect">
            <a:avLst>
              <a:gd fmla="val 484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6172200" y="315468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Histórico familiar e terapia hormonal mudam pouco a taxa. Sozinhos, esses fatores separam pouco os casos.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Idade e densidade da mama</a:t>
            </a:r>
            <a:endParaRPr sz="3200"/>
          </a:p>
        </p:txBody>
      </p:sp>
      <p:pic>
        <p:nvPicPr>
          <p:cNvPr id="320" name="Google Shape;3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88720"/>
            <a:ext cx="402336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188720"/>
            <a:ext cx="402336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3"/>
          <p:cNvSpPr txBox="1"/>
          <p:nvPr/>
        </p:nvSpPr>
        <p:spPr>
          <a:xfrm>
            <a:off x="457200" y="40690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risco cresce devagar com a idade: de 0,61% para 0,82%.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4846320" y="40690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Mamas heterogeneamente densas têm a maior taxa: 0,90%.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6013" y="3905250"/>
            <a:ext cx="437197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63" y="0"/>
            <a:ext cx="7810475" cy="390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O que aprendemos com os dados</a:t>
            </a:r>
            <a:endParaRPr sz="3200"/>
          </a:p>
        </p:txBody>
      </p:sp>
      <p:sp>
        <p:nvSpPr>
          <p:cNvPr id="338" name="Google Shape;338;p15"/>
          <p:cNvSpPr/>
          <p:nvPr/>
        </p:nvSpPr>
        <p:spPr>
          <a:xfrm>
            <a:off x="457200" y="1234440"/>
            <a:ext cx="2560320" cy="3291840"/>
          </a:xfrm>
          <a:prstGeom prst="roundRect">
            <a:avLst>
              <a:gd fmla="val 28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ale" id="340" name="Google Shape;3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6230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5"/>
          <p:cNvSpPr txBox="1"/>
          <p:nvPr/>
        </p:nvSpPr>
        <p:spPr>
          <a:xfrm>
            <a:off x="685800" y="22860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Classes muito desbalanceadas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685800" y="3017520"/>
            <a:ext cx="2103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Só 0,65% de positivos. Acurácia engana; precisamos de recall, precisão e AUC.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3291840" y="1234440"/>
            <a:ext cx="2560320" cy="3291840"/>
          </a:xfrm>
          <a:prstGeom prst="roundRect">
            <a:avLst>
              <a:gd fmla="val 28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3520440" y="146304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d" id="345" name="Google Shape;34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0460" y="16230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5"/>
          <p:cNvSpPr txBox="1"/>
          <p:nvPr/>
        </p:nvSpPr>
        <p:spPr>
          <a:xfrm>
            <a:off x="3520440" y="22860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sinal está no radiologista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 txBox="1"/>
          <p:nvPr/>
        </p:nvSpPr>
        <p:spPr>
          <a:xfrm>
            <a:off x="3520440" y="3017520"/>
            <a:ext cx="2103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fatores da paciente mudam pouco a taxa; a avaliação BI-RADS separa muito mais.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6126480" y="1234440"/>
            <a:ext cx="2560320" cy="3291840"/>
          </a:xfrm>
          <a:prstGeom prst="roundRect">
            <a:avLst>
              <a:gd fmla="val 28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6355080" y="146304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rn" id="350" name="Google Shape;3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5100" y="16230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5"/>
          <p:cNvSpPr txBox="1"/>
          <p:nvPr/>
        </p:nvSpPr>
        <p:spPr>
          <a:xfrm>
            <a:off x="6355080" y="22860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Dados pedem cuidado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6355080" y="3017520"/>
            <a:ext cx="2103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Coluna que vaza a resposta, IMC 58% vazio e 3.133 mulheres com mais de um exame.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2"/>
                </a:solidFill>
              </a:rPr>
              <a:t>Próximos passos: modelagem</a:t>
            </a:r>
            <a:endParaRPr sz="3200"/>
          </a:p>
        </p:txBody>
      </p:sp>
      <p:sp>
        <p:nvSpPr>
          <p:cNvPr id="360" name="Google Shape;360;p16"/>
          <p:cNvSpPr/>
          <p:nvPr/>
        </p:nvSpPr>
        <p:spPr>
          <a:xfrm>
            <a:off x="457200" y="1268728"/>
            <a:ext cx="8229600" cy="960000"/>
          </a:xfrm>
          <a:prstGeom prst="roundRect">
            <a:avLst>
              <a:gd fmla="val 76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685800" y="1451608"/>
            <a:ext cx="594300" cy="59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gs" id="362" name="Google Shape;3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90" y="1600198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6"/>
          <p:cNvSpPr txBox="1"/>
          <p:nvPr/>
        </p:nvSpPr>
        <p:spPr>
          <a:xfrm>
            <a:off x="1508760" y="1378456"/>
            <a:ext cx="457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2057400" y="1588738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Treinar e balancear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457200" y="2411728"/>
            <a:ext cx="8229600" cy="960000"/>
          </a:xfrm>
          <a:prstGeom prst="roundRect">
            <a:avLst>
              <a:gd fmla="val 76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685800" y="2594608"/>
            <a:ext cx="594300" cy="59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uler" id="367" name="Google Shape;36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90" y="2743198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6"/>
          <p:cNvSpPr txBox="1"/>
          <p:nvPr/>
        </p:nvSpPr>
        <p:spPr>
          <a:xfrm>
            <a:off x="1508760" y="2521456"/>
            <a:ext cx="457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 txBox="1"/>
          <p:nvPr/>
        </p:nvSpPr>
        <p:spPr>
          <a:xfrm>
            <a:off x="2057400" y="2731713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Avaliar do jeito certo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 txBox="1"/>
          <p:nvPr>
            <p:ph idx="4294967295" type="sldNum"/>
          </p:nvPr>
        </p:nvSpPr>
        <p:spPr>
          <a:xfrm>
            <a:off x="8229600" y="3646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ibbon" id="377" name="Google Shape;3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822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7"/>
          <p:cNvSpPr txBox="1"/>
          <p:nvPr>
            <p:ph type="title"/>
          </p:nvPr>
        </p:nvSpPr>
        <p:spPr>
          <a:xfrm>
            <a:off x="548640" y="160020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</a:rPr>
              <a:t>Obrigado! Perguntas?</a:t>
            </a:r>
            <a:endParaRPr sz="3600"/>
          </a:p>
        </p:txBody>
      </p:sp>
      <p:sp>
        <p:nvSpPr>
          <p:cNvPr id="379" name="Google Shape;379;p17"/>
          <p:cNvSpPr txBox="1"/>
          <p:nvPr>
            <p:ph idx="1" type="body"/>
          </p:nvPr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</a:pPr>
            <a:r>
              <a:rPr lang="en-US" sz="1800">
                <a:solidFill>
                  <a:schemeClr val="accent3"/>
                </a:solidFill>
              </a:rPr>
              <a:t>Dados: Breast Cancer Surveillance Consortium (BCSC)</a:t>
            </a:r>
            <a:endParaRPr sz="1800"/>
          </a:p>
        </p:txBody>
      </p:sp>
      <p:sp>
        <p:nvSpPr>
          <p:cNvPr id="380" name="Google Shape;380;p17"/>
          <p:cNvSpPr txBox="1"/>
          <p:nvPr/>
        </p:nvSpPr>
        <p:spPr>
          <a:xfrm>
            <a:off x="548640" y="3657600"/>
            <a:ext cx="8046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bcsc-research.org/datasets/mammography_dataset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openml.org/search?type=data&amp;id=43687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github.com/arthurMalveste/Breast-Cancer-Analysis-and-Classification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Coleta e compartilhamento dos dados apoiados pelo BCSC, financiado pelo National Cancer Institute (NCI).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CSC Rosa">
  <a:themeElements>
    <a:clrScheme name="BCSC Rosa">
      <a:dk1>
        <a:srgbClr val="2A1B24"/>
      </a:dk1>
      <a:lt1>
        <a:srgbClr val="FFFFFF"/>
      </a:lt1>
      <a:dk2>
        <a:srgbClr val="4A1530"/>
      </a:dk2>
      <a:lt2>
        <a:srgbClr val="F8EEF3"/>
      </a:lt2>
      <a:accent1>
        <a:srgbClr val="C2185B"/>
      </a:accent1>
      <a:accent2>
        <a:srgbClr val="A79AA2"/>
      </a:accent2>
      <a:accent3>
        <a:srgbClr val="F3B4CC"/>
      </a:accent3>
      <a:accent4>
        <a:srgbClr val="7A2E52"/>
      </a:accent4>
      <a:accent5>
        <a:srgbClr val="E8A33D"/>
      </a:accent5>
      <a:accent6>
        <a:srgbClr val="6E6470"/>
      </a:accent6>
      <a:hlink>
        <a:srgbClr val="C2185B"/>
      </a:hlink>
      <a:folHlink>
        <a:srgbClr val="7A2E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CSC Rosa">
  <a:themeElements>
    <a:clrScheme name="BCSC Rosa">
      <a:dk1>
        <a:srgbClr val="2A1B24"/>
      </a:dk1>
      <a:lt1>
        <a:srgbClr val="FFFFFF"/>
      </a:lt1>
      <a:dk2>
        <a:srgbClr val="4A1530"/>
      </a:dk2>
      <a:lt2>
        <a:srgbClr val="F8EEF3"/>
      </a:lt2>
      <a:accent1>
        <a:srgbClr val="C2185B"/>
      </a:accent1>
      <a:accent2>
        <a:srgbClr val="A79AA2"/>
      </a:accent2>
      <a:accent3>
        <a:srgbClr val="F3B4CC"/>
      </a:accent3>
      <a:accent4>
        <a:srgbClr val="7A2E52"/>
      </a:accent4>
      <a:accent5>
        <a:srgbClr val="E8A33D"/>
      </a:accent5>
      <a:accent6>
        <a:srgbClr val="6E6470"/>
      </a:accent6>
      <a:hlink>
        <a:srgbClr val="C2185B"/>
      </a:hlink>
      <a:folHlink>
        <a:srgbClr val="7A2E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